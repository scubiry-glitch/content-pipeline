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18288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0"/>
            <a:ext cx="761695" cy="3474720"/>
          </a:xfrm>
          <a:prstGeom prst="rect">
            <a:avLst/>
          </a:prstGeom>
          <a:solidFill>
            <a:srgbClr val="143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租赁好房子 · 评审通过后汇报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BBDE"/>
                </a:solidFill>
                <a:latin typeface="Microsoft YaHei"/>
              </a:defRPr>
            </a:pPr>
            <a:r>
              <a:t>从"纸面标准"到"业务武器"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A9BCD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A8BBD"/>
                </a:solidFill>
                <a:latin typeface="Microsoft YaHei"/>
              </a:defRPr>
            </a:pPr>
            <a:r>
              <a:t>标准已立 · 闭环才是护城河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为什么做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标准通过了，但标准本身不产生价值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2B5B"/>
                </a:solidFill>
                <a:latin typeface="Microsoft YaHei"/>
              </a:defRPr>
            </a:pPr>
            <a:r>
              <a:t>对手抄走"舒适+科技+绿色"只需三天，抄走24万条数据+80万套评分体系却要三年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4A5A"/>
                </a:solidFill>
                <a:latin typeface="Microsoft YaHei"/>
              </a:defRPr>
            </a:pPr>
            <a:r>
              <a:t>谁完成闭环，谁就是行业基础设施；谁没完成，标准就是一张纸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4747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不做 → 被定义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标准没有护城河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对手能抄走定义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但抄不走数据+评分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谁没完成闭环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标准=一张纸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54864" cy="3474720"/>
          </a:xfrm>
          <a:prstGeom prst="rect">
            <a:avLst/>
          </a:prstGeom>
          <a:solidFill>
            <a:srgbClr val="B88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560320"/>
            <a:ext cx="34747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做了 → 定义别人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方法论 → 定义和定价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工具(AI) → 边际趋零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认证 → 人才锁定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从5%净利率中介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升级为行业操作系统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54864" cy="347472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2560320"/>
            <a:ext cx="34747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晚做 → 窗口关闭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标准话语权有时效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APEC 12月须有案例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人社部需1W人次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AI数据壁垒在贬值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不做=被定义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做了=定义别人，晚做=关闭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560320"/>
            <a:ext cx="54864" cy="347472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铁三角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方法论 + 工具 + 职业生涯 = 行业操作系统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📐 方法论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好房子评价标准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HQI 量化评分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CAPM+Hedonic 定价模型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GWR+LightGBM 空间量化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29260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🔧 工具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AI评级（图片→评分）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REFA 一线作业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PL&amp;UE 看板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会议纪要应用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54864" cy="29260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👤 职业生涯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REFP认证（对标CFP）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LV1资管→LV2战队长→LV3总监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人社部从业资格（1W人次后）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清华五道口课程研发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54864" cy="2926080"/>
          </a:xfrm>
          <a:prstGeom prst="rect">
            <a:avLst/>
          </a:prstGeom>
          <a:solidFill>
            <a:srgbClr val="5C4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标准定义评什么 / 模型定义怎么评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← 工具提效 / 数据量化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389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← 认证落地到人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46320"/>
            <a:ext cx="10972800" cy="27432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B5B"/>
                </a:solidFill>
                <a:latin typeface="Microsoft YaHei"/>
              </a:defRPr>
            </a:pPr>
            <a:r>
              <a:t>"6个1"进度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1 行业标准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E8A5E"/>
                </a:solidFill>
                <a:latin typeface="Microsoft YaHei"/>
              </a:defRPr>
            </a:pPr>
            <a:r>
              <a:t>中房协  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2 职业认证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人社部  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3 发布会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9A"/>
                </a:solidFill>
                <a:latin typeface="Microsoft YaHei"/>
              </a:defRPr>
            </a:pPr>
            <a:r>
              <a:t>人民日报  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4 白皮书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A9A"/>
                </a:solidFill>
                <a:latin typeface="Microsoft YaHei"/>
              </a:defRPr>
            </a:pPr>
            <a:r>
              <a:t>清华  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59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5 标杆项目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—  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5394960"/>
            <a:ext cx="17373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19" y="5440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6 AI工具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19" y="5715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—  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Microsoft YaHei"/>
              </a:defRPr>
            </a:pPr>
            <a:r>
              <a:t>支撑：📚 学术(清华论文·6月) · 🏛️ 机构(房协+人社部) · 📊 数据(80万套+1000套+24万条)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方向一：标准武器化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定义好 → 量化好 → 定价好 · 对手抄标准，抄不走闭环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200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好房子评价标准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定义"什么是好" · 协会背书 · 原则性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128016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↓  原则→指标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3200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HQI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量化"有多好" · 可打分·可验证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54864" cy="12801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4251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6BB5"/>
                </a:solidFill>
                <a:latin typeface="Microsoft YaHei"/>
              </a:defRPr>
            </a:pPr>
            <a:r>
              <a:t>↓  评分→溢价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3200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CAPM+Hedonic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计算"值多少钱" · 可定价·可预测 · 24万条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2560320" cy="329184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🤖 AI评级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规模化桥梁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拍照→AI评分→报告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成本趋零·全覆盖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标准定义评什么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HQI提供评分框架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AI实现规模化执行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011680"/>
            <a:ext cx="54864" cy="32918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0" y="137160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🎯 美租试点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1000+套·最掐尖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3个月出模型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三星+15%·五星+30%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371600"/>
            <a:ext cx="54864" cy="182880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3474720"/>
            <a:ext cx="2286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🔒 护城河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抄不走HQI评分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抄不走24万条数据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抄不走AI模型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474720"/>
            <a:ext cx="54864" cy="182880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280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B5B"/>
                </a:solidFill>
                <a:latin typeface="Microsoft YaHei"/>
              </a:defRPr>
            </a:pPr>
            <a:r>
              <a:t>AI评级演示</a:t>
            </a:r>
          </a:p>
        </p:txBody>
      </p:sp>
      <p:pic>
        <p:nvPicPr>
          <p:cNvPr id="21" name="Picture 20" descr="upload-room-pho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645920"/>
            <a:ext cx="2377440" cy="6661828"/>
          </a:xfrm>
          <a:prstGeom prst="rect">
            <a:avLst/>
          </a:prstGeom>
        </p:spPr>
      </p:pic>
      <p:pic>
        <p:nvPicPr>
          <p:cNvPr id="22" name="Picture 21" descr="detailed-quo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023360"/>
            <a:ext cx="2377440" cy="759262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0080" y="5943600"/>
            <a:ext cx="10972800" cy="18288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Hedonic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变量边际效应 → 定价底层逻辑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6035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GWR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62636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空间异质性 → 差异化策略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6035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LightGBM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62636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高精度预测 → 自动定价引擎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0350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2B5B"/>
                </a:solidFill>
                <a:latin typeface="Microsoft YaHei"/>
              </a:defRPr>
            </a:pPr>
            <a:r>
              <a:t>CAPM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2636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ROI = [CapM(after)-CapM(before)] / (托管费+装配成本)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537960"/>
            <a:ext cx="10972800" cy="2286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5379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03B3B"/>
                </a:solidFill>
                <a:latin typeface="Microsoft YaHei"/>
              </a:defRPr>
            </a:pPr>
            <a:r>
              <a:t>⚠️ 必须用外部验证校准AI评分，不能用内部数据自证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方向二：工具落地闭环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工具→人→项目→新场景 · 四环咬合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291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第一环：REFA·NPG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N 一线 — 信号采集器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  录音记录真实场景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P 总监 — 实验室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  基于AI输出做复盘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G 总部 — 研发中心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  聚合数据→领域包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237744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6BB5"/>
                </a:solidFill>
                <a:latin typeface="Microsoft YaHei"/>
              </a:defRPr>
            </a:pPr>
            <a:r>
              <a:t>工具让人有力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A8A9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29184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第二环：先行人群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资管经理 → AI工具先行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  REFA解决信息不对称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设计师 → 认证先行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  "认证设计师"工牌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两者交汇 → 人+标准+工具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54864" cy="237744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8A5E"/>
                </a:solidFill>
                <a:latin typeface="Microsoft YaHei"/>
              </a:defRPr>
            </a:pPr>
            <a:r>
              <a:t>人让标准落地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A8A9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第三环：样板项目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杭州→建造验证 · 南京→运营验证 · 上海FAM→金融闭环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54864" cy="1097280"/>
          </a:xfrm>
          <a:prstGeom prst="rect">
            <a:avLst/>
          </a:prstGeom>
          <a:solidFill>
            <a:srgbClr val="5C4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606040"/>
            <a:ext cx="3474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第四环：高端租赁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美租第二品牌 · 以客找房 · B2B获客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606040"/>
            <a:ext cx="54864" cy="1097280"/>
          </a:xfrm>
          <a:prstGeom prst="rect">
            <a:avLst/>
          </a:prstGeom>
          <a:solidFill>
            <a:srgbClr val="B88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10972800" cy="18288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B5B"/>
                </a:solidFill>
                <a:latin typeface="Microsoft YaHei"/>
              </a:defRPr>
            </a:pPr>
            <a:r>
              <a:t>NPG系统截图</a:t>
            </a:r>
          </a:p>
        </p:txBody>
      </p:sp>
      <p:pic>
        <p:nvPicPr>
          <p:cNvPr id="20" name="Picture 19" descr="npg-matrix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3200400" cy="2177382"/>
          </a:xfrm>
          <a:prstGeom prst="rect">
            <a:avLst/>
          </a:prstGeom>
        </p:spPr>
      </p:pic>
      <p:pic>
        <p:nvPicPr>
          <p:cNvPr id="21" name="Picture 20" descr="npg-reco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663440"/>
            <a:ext cx="3200400" cy="1028420"/>
          </a:xfrm>
          <a:prstGeom prst="rect">
            <a:avLst/>
          </a:prstGeom>
        </p:spPr>
      </p:pic>
      <p:pic>
        <p:nvPicPr>
          <p:cNvPr id="22" name="Picture 21" descr="npg-experi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663440"/>
            <a:ext cx="3200400" cy="166303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40080" y="6537960"/>
            <a:ext cx="10972800" cy="2286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53796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03B3B"/>
                </a:solidFill>
                <a:latin typeface="Microsoft YaHei"/>
              </a:defRPr>
            </a:pPr>
            <a:r>
              <a:t>⚠️ 必须给具体场景，不能做"自嗨工程"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方向三：公众防线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面向公众的独立议题 · 先守住底线，再谈上限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solidFill>
            <a:srgbClr val="FD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1A"/>
                </a:solidFill>
                <a:latin typeface="Microsoft YaHei"/>
              </a:defRPr>
            </a:pPr>
            <a:r>
              <a:t>80万套规模=80万倍杠杆 · 一个燃气事故的舆论风险可以抵消所有品牌建设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2120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🛡️ 底线：责任界定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当前"大包大揽"，责任边界模糊=无限风险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推动"省心租管理责任清单"：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贝壳 → 招租时效、租金代扣、维修响应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物业/燃气 → 燃气管道、电梯维保、公共安全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用户 → 使用不当、人为损坏、违规改造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⏰ 1个月出初稿 · 法务+运营先上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4864" cy="32004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53949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109728"/>
          <a:lstStyle/>
          <a:p>
            <a:pPr algn="ctr">
              <a:spcAft>
                <a:spcPts val="600"/>
              </a:spcAft>
              <a:defRPr sz="1500" b="1">
                <a:solidFill>
                  <a:srgbClr val="0F2B5B"/>
                </a:solidFill>
                <a:latin typeface="Microsoft YaHei"/>
              </a:defRPr>
            </a:pPr>
            <a:r>
              <a:t>🌟 上限：价值传达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"舒适+科技+绿色"要用租客语言：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专家语言                    租客语言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好房子标准达标      →    "不满意7天可退"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AI智能匹配            →    "3分钟匹配最适合"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ENF级环保材料      →    "检测报告扫码可查"</a:t>
            </a: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4A4A5A"/>
                </a:solidFill>
                <a:latin typeface="Microsoft YaHei"/>
              </a:defRPr>
            </a:pPr>
            <a:r>
              <a:t>需品宣+业务对齐 · 建议A/B测试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286000"/>
            <a:ext cx="54864" cy="3200400"/>
          </a:xfrm>
          <a:prstGeom prst="rect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B5B"/>
                </a:solidFill>
                <a:latin typeface="Microsoft YaHei"/>
              </a:defRPr>
            </a:pPr>
            <a:r>
              <a:t>优先级：责任界定 &gt; 价值传达 · 法务+运营先上，品宣后上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6BB5"/>
                </a:solidFill>
                <a:latin typeface="Microsoft YaHei"/>
              </a:defRPr>
            </a:pPr>
            <a:r>
              <a:t>守住底线 ────────→ 才敢谈上限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411480"/>
            <a:ext cx="502920" cy="50292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2B5B"/>
                </a:solidFill>
                <a:latin typeface="Microsoft YaHei"/>
              </a:defRPr>
            </a:pPr>
            <a:r>
              <a:t>时间线与决策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A9A"/>
                </a:solidFill>
                <a:latin typeface="Microsoft YaHei"/>
              </a:defRPr>
            </a:pPr>
            <a:r>
              <a:t>4项必须拍板 · 2项确认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72800" cy="73152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19" y="1435608"/>
            <a:ext cx="201168" cy="201168"/>
          </a:xfrm>
          <a:prstGeom prst="ellipse">
            <a:avLst/>
          </a:prstGeom>
          <a:solidFill>
            <a:srgbClr val="0E8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8A5E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REFP大纲完成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1435608"/>
            <a:ext cx="201168" cy="20116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6BB5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论文+机构确认</a:t>
            </a:r>
          </a:p>
        </p:txBody>
      </p:sp>
      <p:sp>
        <p:nvSpPr>
          <p:cNvPr id="13" name="Oval 12"/>
          <p:cNvSpPr/>
          <p:nvPr/>
        </p:nvSpPr>
        <p:spPr>
          <a:xfrm>
            <a:off x="5166359" y="1435608"/>
            <a:ext cx="201168" cy="201168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6BB5"/>
                </a:solidFill>
                <a:latin typeface="Microsoft YaHei"/>
              </a:defRPr>
            </a:pPr>
            <a:r>
              <a:t>7月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100人次考试</a:t>
            </a:r>
          </a:p>
        </p:txBody>
      </p:sp>
      <p:sp>
        <p:nvSpPr>
          <p:cNvPr id="16" name="Oval 15"/>
          <p:cNvSpPr/>
          <p:nvPr/>
        </p:nvSpPr>
        <p:spPr>
          <a:xfrm>
            <a:off x="7040879" y="1435608"/>
            <a:ext cx="201168" cy="201168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8A9A"/>
                </a:solidFill>
                <a:latin typeface="Microsoft YaHei"/>
              </a:defRPr>
            </a:pPr>
            <a:r>
              <a:t>11月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认证发布会</a:t>
            </a:r>
          </a:p>
        </p:txBody>
      </p:sp>
      <p:sp>
        <p:nvSpPr>
          <p:cNvPr id="19" name="Oval 18"/>
          <p:cNvSpPr/>
          <p:nvPr/>
        </p:nvSpPr>
        <p:spPr>
          <a:xfrm>
            <a:off x="8915399" y="1435608"/>
            <a:ext cx="201168" cy="201168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8A9A"/>
                </a:solidFill>
                <a:latin typeface="Microsoft YaHei"/>
              </a:defRPr>
            </a:pPr>
            <a:r>
              <a:t>12月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APEC论坛</a:t>
            </a:r>
          </a:p>
        </p:txBody>
      </p:sp>
      <p:sp>
        <p:nvSpPr>
          <p:cNvPr id="22" name="Oval 21"/>
          <p:cNvSpPr/>
          <p:nvPr/>
        </p:nvSpPr>
        <p:spPr>
          <a:xfrm>
            <a:off x="10789919" y="1435608"/>
            <a:ext cx="201168" cy="201168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737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A8A9A"/>
                </a:solidFill>
                <a:latin typeface="Microsoft YaHei"/>
              </a:defRPr>
            </a:pPr>
            <a:r>
              <a:t>次年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A4A5A"/>
                </a:solidFill>
                <a:latin typeface="Microsoft YaHei"/>
              </a:defRPr>
            </a:pPr>
            <a:r>
              <a:t>1W人次→人社部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468880"/>
            <a:ext cx="10972800" cy="18288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26517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2651760"/>
            <a:ext cx="54864" cy="1554480"/>
          </a:xfrm>
          <a:prstGeom prst="rect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59" y="2788920"/>
            <a:ext cx="365760" cy="365760"/>
          </a:xfrm>
          <a:prstGeom prst="ellipse">
            <a:avLst/>
          </a:prstGeom>
          <a:solidFill>
            <a:srgbClr val="0F2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5B"/>
                </a:solidFill>
                <a:latin typeface="Microsoft YaHei"/>
              </a:defRPr>
            </a:pPr>
            <a:r>
              <a:t>批准2-3个集中式样板项目立项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Microsoft YaHei"/>
              </a:defRPr>
            </a:pPr>
            <a:r>
              <a:t>6个月完成装修+入住+AI评级 → APEC展示案例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6517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651760"/>
            <a:ext cx="54864" cy="1554480"/>
          </a:xfrm>
          <a:prstGeom prst="rect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2788920"/>
            <a:ext cx="365760" cy="365760"/>
          </a:xfrm>
          <a:prstGeom prst="ellipse">
            <a:avLst/>
          </a:prstGeom>
          <a:solidFill>
            <a:srgbClr val="1A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788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5B"/>
                </a:solidFill>
                <a:latin typeface="Microsoft YaHei"/>
              </a:defRPr>
            </a:pPr>
            <a:r>
              <a:t>批准AI评级在美租试点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200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Microsoft YaHei"/>
              </a:defRPr>
            </a:pPr>
            <a:r>
              <a:t>1000+套训练集 · 3个月出模型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4805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4480560"/>
            <a:ext cx="54864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22959" y="4617720"/>
            <a:ext cx="365760" cy="365760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5B"/>
                </a:solidFill>
                <a:latin typeface="Microsoft YaHei"/>
              </a:defRPr>
            </a:pPr>
            <a:r>
              <a:t>批准省心租责任清单制定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029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Microsoft YaHei"/>
              </a:defRPr>
            </a:pPr>
            <a:r>
              <a:t>法务+运营+品宣 · 1个月初稿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480560"/>
            <a:ext cx="53949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60" y="4480560"/>
            <a:ext cx="54864" cy="1554480"/>
          </a:xfrm>
          <a:prstGeom prst="rect">
            <a:avLst/>
          </a:prstGeom>
          <a:solidFill>
            <a:srgbClr val="5C4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2240" y="4617720"/>
            <a:ext cx="365760" cy="365760"/>
          </a:xfrm>
          <a:prstGeom prst="ellipse">
            <a:avLst/>
          </a:prstGeom>
          <a:solidFill>
            <a:srgbClr val="5C4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18288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B5B"/>
                </a:solidFill>
                <a:latin typeface="Microsoft YaHei"/>
              </a:defRPr>
            </a:pPr>
            <a:r>
              <a:t>确认铁三角推进路径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029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Microsoft YaHei"/>
              </a:defRPr>
            </a:pPr>
            <a:r>
              <a:t>方法论+工具+职业生涯 · 7月→11月→次年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4648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A9A"/>
                </a:solidFill>
                <a:latin typeface="Microsoft YaHei"/>
              </a:defRPr>
            </a:pPr>
            <a:r>
              <a:t>📋 需确认但不必当天：⑤ 三层架构定位  ⑥ 价值传达转租客语言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